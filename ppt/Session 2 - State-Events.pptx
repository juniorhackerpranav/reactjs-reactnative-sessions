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4"/>
  </p:notesMasterIdLst>
  <p:sldIdLst>
    <p:sldId id="1864" r:id="rId5"/>
    <p:sldId id="1845" r:id="rId6"/>
    <p:sldId id="1848" r:id="rId7"/>
    <p:sldId id="1868" r:id="rId8"/>
    <p:sldId id="1873" r:id="rId9"/>
    <p:sldId id="1874" r:id="rId10"/>
    <p:sldId id="1869" r:id="rId11"/>
    <p:sldId id="1871" r:id="rId12"/>
    <p:sldId id="1872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24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2A19-EF42-EDF3-0348-3D5D29D0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DB80B-428D-15C4-06BD-7BFF56EDA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AA275-CE18-B0F9-61AE-E3CD45D03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74DC8-B006-010B-8E41-501802056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1180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267E-7B1E-2D6D-99E1-15FBC2ABD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81FD5-EBB8-4BF6-4FB4-256719B6F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21A13-911F-214E-BCCE-A5D51CC39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0D0A2-E92F-3D54-A045-18703FFC0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2906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D72F2-A93D-DA76-A584-01BD347A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15C7E-D26A-B098-6830-A445D6D9C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55E64-0966-FE13-7494-C8AAA90D0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B827-CE18-14F5-0C5F-4875E71E5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8624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37D8-30D3-41FB-CBD4-C6AD0FF5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D0ED6-24EB-4845-7F70-2CD1138EB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BEE6D-39AF-C004-31FB-C1DEB9AF2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82EF4-30B8-7302-89AB-96ED0FA25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562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66ED-99F9-C806-93CE-C5CDA7F3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FCBF7-E10A-1EC5-53EB-6D3C2F3F6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FA572-5AD9-DD3B-6E8B-9DA91071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36709-8433-9759-D984-FD648519A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2725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CEAD-9838-73EA-2E52-5120153C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87C46-75E9-2AF1-8B24-4645BCB76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99615-35AF-ADAC-FB34-BEEB181F3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1073-CDF5-47A2-6983-FBA2AB8C6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628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State &amp; Events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364531"/>
            <a:ext cx="9141397" cy="615553"/>
          </a:xfrm>
        </p:spPr>
        <p:txBody>
          <a:bodyPr/>
          <a:lstStyle/>
          <a:p>
            <a:pPr algn="l"/>
            <a:r>
              <a:rPr lang="en-US" dirty="0"/>
              <a:t>Overview – Session Content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BA01B-ECA4-4938-872A-B38BEB13AC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15733" y="2501753"/>
            <a:ext cx="8560531" cy="3322975"/>
          </a:xfrm>
        </p:spPr>
        <p:txBody>
          <a:bodyPr/>
          <a:lstStyle/>
          <a:p>
            <a:pPr marL="400050" indent="-400050" algn="l">
              <a:lnSpc>
                <a:spcPct val="150000"/>
              </a:lnSpc>
              <a:buFont typeface="+mj-lt"/>
              <a:buAutoNum type="romanLcPeriod"/>
            </a:pPr>
            <a:r>
              <a:rPr lang="en-IN" sz="2800" b="1" dirty="0"/>
              <a:t>What is state?</a:t>
            </a:r>
          </a:p>
          <a:p>
            <a:pPr marL="400050" indent="-400050" algn="l">
              <a:lnSpc>
                <a:spcPct val="150000"/>
              </a:lnSpc>
              <a:buFont typeface="+mj-lt"/>
              <a:buAutoNum type="romanLcPeriod"/>
            </a:pPr>
            <a:r>
              <a:rPr lang="en-IN" sz="2800" b="1" dirty="0" err="1"/>
              <a:t>useState</a:t>
            </a:r>
            <a:endParaRPr lang="en-IN" sz="2800" b="1" dirty="0"/>
          </a:p>
          <a:p>
            <a:pPr marL="400050" indent="-400050" algn="l">
              <a:lnSpc>
                <a:spcPct val="150000"/>
              </a:lnSpc>
              <a:buFont typeface="+mj-lt"/>
              <a:buAutoNum type="romanLcPeriod"/>
            </a:pPr>
            <a:r>
              <a:rPr lang="en-IN" sz="2800" b="1" dirty="0"/>
              <a:t>Event handling</a:t>
            </a:r>
          </a:p>
          <a:p>
            <a:pPr marL="400050" indent="-400050" algn="l">
              <a:lnSpc>
                <a:spcPct val="150000"/>
              </a:lnSpc>
              <a:buFont typeface="+mj-lt"/>
              <a:buAutoNum type="romanLcPeriod"/>
            </a:pPr>
            <a:r>
              <a:rPr lang="en-IN" sz="2800" b="1" dirty="0"/>
              <a:t>Forms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354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 sz="3600" dirty="0"/>
              <a:t>state- </a:t>
            </a:r>
            <a:r>
              <a:rPr lang="en-IN" sz="3600" b="0" dirty="0"/>
              <a:t>Managing Dynamic Data and UI in React</a:t>
            </a:r>
            <a:endParaRPr lang="en-US" sz="3600" b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6A9FD9-630E-44B9-BED8-AFEA6C84A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69138"/>
            <a:ext cx="10667999" cy="1158237"/>
          </a:xfrm>
        </p:spPr>
        <p:txBody>
          <a:bodyPr/>
          <a:lstStyle/>
          <a:p>
            <a:r>
              <a:rPr lang="en-IN" b="1" dirty="0"/>
              <a:t>React</a:t>
            </a:r>
            <a:r>
              <a:rPr lang="en-IN" dirty="0"/>
              <a:t>, </a:t>
            </a:r>
            <a:r>
              <a:rPr lang="en-IN" b="1" dirty="0"/>
              <a:t>state</a:t>
            </a:r>
            <a:r>
              <a:rPr lang="en-IN" dirty="0"/>
              <a:t> is an object that stores data or information in a component that can change over time.</a:t>
            </a:r>
            <a:br>
              <a:rPr lang="en-IN" dirty="0"/>
            </a:br>
            <a:r>
              <a:rPr lang="en-IN" dirty="0"/>
              <a:t>When the </a:t>
            </a:r>
            <a:r>
              <a:rPr lang="en-IN" b="1" dirty="0"/>
              <a:t>state</a:t>
            </a:r>
            <a:r>
              <a:rPr lang="en-IN" dirty="0"/>
              <a:t> changes, React automatically re-renders the component to reflect the new data in the UI.</a:t>
            </a: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0C813-86B4-1647-5414-F557E3730A39}"/>
              </a:ext>
            </a:extLst>
          </p:cNvPr>
          <p:cNvSpPr txBox="1"/>
          <p:nvPr/>
        </p:nvSpPr>
        <p:spPr>
          <a:xfrm>
            <a:off x="762000" y="2700688"/>
            <a:ext cx="104119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Props vs. State: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pPr lvl="0"/>
            <a:r>
              <a:rPr lang="en-IN" b="1" dirty="0">
                <a:solidFill>
                  <a:srgbClr val="0070C0"/>
                </a:solidFill>
              </a:rPr>
              <a:t>Props:</a:t>
            </a:r>
            <a:r>
              <a:rPr lang="en-IN" dirty="0">
                <a:solidFill>
                  <a:srgbClr val="0070C0"/>
                </a:solidFill>
              </a:rPr>
              <a:t> Read-only data passed into a component from its parent (like function arguments).</a:t>
            </a:r>
          </a:p>
          <a:p>
            <a:pPr lvl="0"/>
            <a:endParaRPr lang="en-IN" dirty="0">
              <a:solidFill>
                <a:srgbClr val="0070C0"/>
              </a:solidFill>
            </a:endParaRPr>
          </a:p>
          <a:p>
            <a:pPr lvl="0"/>
            <a:r>
              <a:rPr lang="en-IN" b="1" dirty="0">
                <a:solidFill>
                  <a:srgbClr val="0070C0"/>
                </a:solidFill>
              </a:rPr>
              <a:t>State:</a:t>
            </a:r>
            <a:r>
              <a:rPr lang="en-IN" dirty="0">
                <a:solidFill>
                  <a:srgbClr val="0070C0"/>
                </a:solidFill>
              </a:rPr>
              <a:t> Private data managed entirely </a:t>
            </a:r>
            <a:r>
              <a:rPr lang="en-IN" i="1" dirty="0">
                <a:solidFill>
                  <a:srgbClr val="0070C0"/>
                </a:solidFill>
              </a:rPr>
              <a:t>within</a:t>
            </a:r>
            <a:r>
              <a:rPr lang="en-IN" dirty="0">
                <a:solidFill>
                  <a:srgbClr val="0070C0"/>
                </a:solidFill>
              </a:rPr>
              <a:t> the component (like local variables that persist across renders).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25645-65C2-09C8-3449-99E769AC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F0DDF9-F90E-655B-A015-49711211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 dirty="0" err="1"/>
              <a:t>useState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BCA73C-A152-BF4B-687B-1F9C19C424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900" y="2142038"/>
            <a:ext cx="10667999" cy="4245862"/>
          </a:xfrm>
        </p:spPr>
        <p:txBody>
          <a:bodyPr/>
          <a:lstStyle/>
          <a:p>
            <a:r>
              <a:rPr lang="en-IN" sz="2400" dirty="0"/>
              <a:t>Syntax : </a:t>
            </a:r>
          </a:p>
          <a:p>
            <a:endParaRPr lang="en-IN" sz="1000" dirty="0"/>
          </a:p>
          <a:p>
            <a:r>
              <a:rPr lang="en-IN" sz="2400" dirty="0"/>
              <a:t>The </a:t>
            </a:r>
            <a:r>
              <a:rPr lang="en-IN" sz="2400" b="1" dirty="0" err="1"/>
              <a:t>useState</a:t>
            </a:r>
            <a:r>
              <a:rPr lang="en-IN" sz="2400" dirty="0"/>
              <a:t> hook allows functional components to hold state.</a:t>
            </a:r>
            <a:endParaRPr lang="en-IN" altLang="en-US" dirty="0"/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useState</a:t>
            </a:r>
            <a:r>
              <a:rPr lang="en-IN" dirty="0"/>
              <a:t> is a </a:t>
            </a:r>
            <a:r>
              <a:rPr lang="en-IN" b="1" dirty="0"/>
              <a:t>React Hook</a:t>
            </a:r>
            <a:r>
              <a:rPr lang="en-IN" dirty="0"/>
              <a:t> used to add state to a functional component. 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State is data that can </a:t>
            </a:r>
            <a:r>
              <a:rPr lang="en-IN" b="1" dirty="0"/>
              <a:t>change over time</a:t>
            </a:r>
            <a:r>
              <a:rPr lang="en-IN" dirty="0"/>
              <a:t>. 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When state changes, React </a:t>
            </a:r>
            <a:r>
              <a:rPr lang="en-IN" b="1" dirty="0"/>
              <a:t>re-renders the component</a:t>
            </a:r>
            <a:r>
              <a:rPr lang="en-IN" dirty="0"/>
              <a:t>. 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It is imported from React package.</a:t>
            </a:r>
          </a:p>
          <a:p>
            <a:endParaRPr lang="en-IN" altLang="en-US" dirty="0"/>
          </a:p>
          <a:p>
            <a:endParaRPr lang="en-IN" altLang="en-US" dirty="0"/>
          </a:p>
          <a:p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32445-15BD-A577-BC8F-CEB4A951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8" t="5587" r="1443" b="10269"/>
          <a:stretch>
            <a:fillRect/>
          </a:stretch>
        </p:blipFill>
        <p:spPr>
          <a:xfrm>
            <a:off x="2093976" y="1524818"/>
            <a:ext cx="6867144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0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6DBB-09BB-6F9D-49AF-F1E91C12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29D03-9DF6-FD29-AFA9-EAE3390B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IN" dirty="0"/>
              <a:t>Why Do We Need State?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840C11-B3A9-40EC-64D9-39BA964C2B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557692"/>
            <a:ext cx="5260848" cy="4245862"/>
          </a:xfrm>
        </p:spPr>
        <p:txBody>
          <a:bodyPr/>
          <a:lstStyle/>
          <a:p>
            <a:r>
              <a:rPr lang="en-IN" b="1" dirty="0"/>
              <a:t>Example : </a:t>
            </a:r>
          </a:p>
          <a:p>
            <a:r>
              <a:rPr lang="en-IN" dirty="0"/>
              <a:t>	</a:t>
            </a:r>
            <a:r>
              <a:rPr lang="en-IN" b="1" dirty="0"/>
              <a:t>Imagine a counter:</a:t>
            </a:r>
          </a:p>
          <a:p>
            <a:r>
              <a:rPr lang="en-IN" dirty="0"/>
              <a:t>		Count: 0</a:t>
            </a:r>
          </a:p>
          <a:p>
            <a:r>
              <a:rPr lang="en-IN" dirty="0"/>
              <a:t>		[ - ] [ + ]</a:t>
            </a:r>
          </a:p>
          <a:p>
            <a:r>
              <a:rPr lang="en-IN" dirty="0"/>
              <a:t>	</a:t>
            </a:r>
            <a:r>
              <a:rPr lang="en-IN" b="1" dirty="0"/>
              <a:t>When the user clicks +:</a:t>
            </a:r>
          </a:p>
          <a:p>
            <a:r>
              <a:rPr lang="en-IN" dirty="0"/>
              <a:t>		Count: 1</a:t>
            </a:r>
          </a:p>
          <a:p>
            <a:r>
              <a:rPr lang="en-IN" dirty="0"/>
              <a:t>	</a:t>
            </a:r>
            <a:r>
              <a:rPr lang="en-IN" b="1" dirty="0"/>
              <a:t>Click again:</a:t>
            </a:r>
          </a:p>
          <a:p>
            <a:r>
              <a:rPr lang="en-IN" dirty="0"/>
              <a:t>		Count: 2</a:t>
            </a:r>
          </a:p>
          <a:p>
            <a:r>
              <a:rPr lang="en-IN" dirty="0"/>
              <a:t> </a:t>
            </a:r>
            <a:endParaRPr lang="en-US" altLang="en-US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8039912-0DB3-CE80-2633-F69AF5F978A3}"/>
              </a:ext>
            </a:extLst>
          </p:cNvPr>
          <p:cNvSpPr txBox="1">
            <a:spLocks/>
          </p:cNvSpPr>
          <p:nvPr/>
        </p:nvSpPr>
        <p:spPr>
          <a:xfrm>
            <a:off x="6092951" y="1557692"/>
            <a:ext cx="5260849" cy="42458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IN" b="1" dirty="0"/>
              <a:t>The value needs to be:</a:t>
            </a:r>
          </a:p>
          <a:p>
            <a:pPr fontAlgn="auto">
              <a:spcAft>
                <a:spcPts val="0"/>
              </a:spcAft>
            </a:pPr>
            <a:r>
              <a:rPr lang="en-IN" dirty="0"/>
              <a:t>      1. Stored </a:t>
            </a:r>
          </a:p>
          <a:p>
            <a:pPr fontAlgn="auto">
              <a:spcAft>
                <a:spcPts val="0"/>
              </a:spcAft>
            </a:pPr>
            <a:r>
              <a:rPr lang="en-IN" dirty="0"/>
              <a:t>      2. Changed </a:t>
            </a:r>
          </a:p>
          <a:p>
            <a:pPr fontAlgn="auto">
              <a:spcAft>
                <a:spcPts val="0"/>
              </a:spcAft>
            </a:pPr>
            <a:r>
              <a:rPr lang="en-IN" dirty="0"/>
              <a:t>      3. Displayed again in the UI</a:t>
            </a:r>
          </a:p>
          <a:p>
            <a:pPr fontAlgn="auto">
              <a:spcAft>
                <a:spcPts val="0"/>
              </a:spcAft>
            </a:pPr>
            <a:endParaRPr lang="en-IN" dirty="0"/>
          </a:p>
          <a:p>
            <a:r>
              <a:rPr lang="en-IN" b="1" dirty="0"/>
              <a:t>Without State</a:t>
            </a:r>
          </a:p>
          <a:p>
            <a:r>
              <a:rPr lang="en-IN" sz="1400" dirty="0">
                <a:solidFill>
                  <a:srgbClr val="FF0000"/>
                </a:solidFill>
              </a:rPr>
              <a:t>* Normal JavaScript variables don't tell React that the UI needs to update.</a:t>
            </a:r>
          </a:p>
          <a:p>
            <a:pPr fontAlgn="auto">
              <a:spcAft>
                <a:spcPts val="0"/>
              </a:spcAft>
            </a:pPr>
            <a:r>
              <a:rPr lang="en-IN" sz="1400" dirty="0">
                <a:solidFill>
                  <a:srgbClr val="FF0000"/>
                </a:solidFill>
              </a:rPr>
              <a:t>* Changing count does not automatically cause React to update the UI.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37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C334-5056-1D09-0640-A7E56EFA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BB26F8-83B4-9799-C094-AAAC4C64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>
            <a:normAutofit/>
          </a:bodyPr>
          <a:lstStyle/>
          <a:p>
            <a:r>
              <a:rPr lang="en-IN" dirty="0"/>
              <a:t>Props vs State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959D89-748F-133C-3499-838A80EE9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84539"/>
              </p:ext>
            </p:extLst>
          </p:nvPr>
        </p:nvGraphicFramePr>
        <p:xfrm>
          <a:off x="762000" y="2012110"/>
          <a:ext cx="10521695" cy="28337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171028">
                  <a:extLst>
                    <a:ext uri="{9D8B030D-6E8A-4147-A177-3AD203B41FA5}">
                      <a16:colId xmlns:a16="http://schemas.microsoft.com/office/drawing/2014/main" val="1764269040"/>
                    </a:ext>
                  </a:extLst>
                </a:gridCol>
                <a:gridCol w="5350667">
                  <a:extLst>
                    <a:ext uri="{9D8B030D-6E8A-4147-A177-3AD203B41FA5}">
                      <a16:colId xmlns:a16="http://schemas.microsoft.com/office/drawing/2014/main" val="3394799124"/>
                    </a:ext>
                  </a:extLst>
                </a:gridCol>
              </a:tblGrid>
              <a:tr h="56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 dirty="0">
                          <a:solidFill>
                            <a:schemeClr val="bg1"/>
                          </a:solidFill>
                        </a:rPr>
                        <a:t>Props</a:t>
                      </a:r>
                    </a:p>
                  </a:txBody>
                  <a:tcPr marL="190122" marR="191506" marT="146248" marB="1034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 dirty="0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marL="190122" marR="191506" marT="146248" marB="103403" anchor="ctr"/>
                </a:tc>
                <a:extLst>
                  <a:ext uri="{0D108BD9-81ED-4DB2-BD59-A6C34878D82A}">
                    <a16:rowId xmlns:a16="http://schemas.microsoft.com/office/drawing/2014/main" val="3600600781"/>
                  </a:ext>
                </a:extLst>
              </a:tr>
              <a:tr h="56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Passed from parent</a:t>
                      </a:r>
                    </a:p>
                  </a:txBody>
                  <a:tcPr marL="190122" marR="191506" marT="146248" marB="1034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Managed by component</a:t>
                      </a:r>
                    </a:p>
                  </a:txBody>
                  <a:tcPr marL="190122" marR="191506" marT="146248" marB="103403" anchor="ctr"/>
                </a:tc>
                <a:extLst>
                  <a:ext uri="{0D108BD9-81ED-4DB2-BD59-A6C34878D82A}">
                    <a16:rowId xmlns:a16="http://schemas.microsoft.com/office/drawing/2014/main" val="329719471"/>
                  </a:ext>
                </a:extLst>
              </a:tr>
              <a:tr h="56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Read-only</a:t>
                      </a:r>
                    </a:p>
                  </a:txBody>
                  <a:tcPr marL="190122" marR="191506" marT="146248" marB="1034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Can be updated</a:t>
                      </a:r>
                    </a:p>
                  </a:txBody>
                  <a:tcPr marL="190122" marR="191506" marT="146248" marB="103403" anchor="ctr"/>
                </a:tc>
                <a:extLst>
                  <a:ext uri="{0D108BD9-81ED-4DB2-BD59-A6C34878D82A}">
                    <a16:rowId xmlns:a16="http://schemas.microsoft.com/office/drawing/2014/main" val="1211370808"/>
                  </a:ext>
                </a:extLst>
              </a:tr>
              <a:tr h="56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Used for communication between components</a:t>
                      </a:r>
                    </a:p>
                  </a:txBody>
                  <a:tcPr marL="190122" marR="191506" marT="146248" marB="1034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Used for dynamic data inside component</a:t>
                      </a:r>
                    </a:p>
                  </a:txBody>
                  <a:tcPr marL="190122" marR="191506" marT="146248" marB="103403" anchor="ctr"/>
                </a:tc>
                <a:extLst>
                  <a:ext uri="{0D108BD9-81ED-4DB2-BD59-A6C34878D82A}">
                    <a16:rowId xmlns:a16="http://schemas.microsoft.com/office/drawing/2014/main" val="4069441796"/>
                  </a:ext>
                </a:extLst>
              </a:tr>
              <a:tr h="566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Controlled by parent</a:t>
                      </a:r>
                    </a:p>
                  </a:txBody>
                  <a:tcPr marL="190122" marR="191506" marT="146248" marB="1034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Controlled by component</a:t>
                      </a:r>
                    </a:p>
                  </a:txBody>
                  <a:tcPr marL="190122" marR="191506" marT="146248" marB="103403" anchor="ctr"/>
                </a:tc>
                <a:extLst>
                  <a:ext uri="{0D108BD9-81ED-4DB2-BD59-A6C34878D82A}">
                    <a16:rowId xmlns:a16="http://schemas.microsoft.com/office/drawing/2014/main" val="186319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3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BA63-53B5-1C92-F668-D522D74B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86EA3-F1C3-557D-D664-8C9B4097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 dirty="0"/>
              <a:t>Event and Event Handling, Forms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288F5B-8CB3-467D-9322-280BA2946C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69138"/>
            <a:ext cx="10667999" cy="4245862"/>
          </a:xfrm>
        </p:spPr>
        <p:txBody>
          <a:bodyPr/>
          <a:lstStyle/>
          <a:p>
            <a:r>
              <a:rPr lang="en-IN" sz="2400" dirty="0"/>
              <a:t>An </a:t>
            </a:r>
            <a:r>
              <a:rPr lang="en-IN" sz="2400" b="1" dirty="0"/>
              <a:t>event</a:t>
            </a:r>
            <a:r>
              <a:rPr lang="en-IN" sz="2400" dirty="0"/>
              <a:t> is something that happens because of a user or browser action.</a:t>
            </a:r>
            <a:endParaRPr lang="en-IN" altLang="en-US" dirty="0"/>
          </a:p>
          <a:p>
            <a:endParaRPr lang="en-IN" sz="1000" b="1" dirty="0"/>
          </a:p>
          <a:p>
            <a:r>
              <a:rPr lang="en-IN" sz="2000" b="1" dirty="0"/>
              <a:t>Examples: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User clicks a button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User types in an input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User submits a form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Mouse moves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Keyboard key is pressed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Checkbox is selected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IN" dirty="0"/>
              <a:t>Dropdown value changes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altLang="en-US" dirty="0"/>
          </a:p>
          <a:p>
            <a:endParaRPr lang="en-IN" altLang="en-US" dirty="0"/>
          </a:p>
          <a:p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A958D-62B6-F459-E3F5-9455A7841A6F}"/>
              </a:ext>
            </a:extLst>
          </p:cNvPr>
          <p:cNvSpPr txBox="1"/>
          <p:nvPr/>
        </p:nvSpPr>
        <p:spPr>
          <a:xfrm>
            <a:off x="4663440" y="2236916"/>
            <a:ext cx="3282696" cy="341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</a:rPr>
              <a:t>Events Example : </a:t>
            </a:r>
          </a:p>
          <a:p>
            <a:endParaRPr lang="en-US" altLang="en-US" sz="10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onClick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onChange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onSubmit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onMouseEnter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onMouseLeave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onKeyDown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1"/>
                </a:solidFill>
              </a:rPr>
              <a:t>onKeyUp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91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5F08-21B9-243F-7CEF-768BEEDB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9F36BA-E821-2E70-8450-A5181BEA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 dirty="0"/>
              <a:t>Event Handling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94DE0B-9072-89D2-582E-A531746010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896174"/>
            <a:ext cx="10667999" cy="4245862"/>
          </a:xfrm>
        </p:spPr>
        <p:txBody>
          <a:bodyPr/>
          <a:lstStyle/>
          <a:p>
            <a:r>
              <a:rPr lang="en-IN" sz="2400" b="1" dirty="0"/>
              <a:t>Event handling</a:t>
            </a:r>
            <a:r>
              <a:rPr lang="en-IN" sz="2400" dirty="0"/>
              <a:t> means responding to an event.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The event name in react is given in </a:t>
            </a:r>
            <a:r>
              <a:rPr lang="en-IN" b="1" dirty="0"/>
              <a:t>camelCase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To handle the event we </a:t>
            </a:r>
            <a:r>
              <a:rPr lang="en-IN" b="1" dirty="0"/>
              <a:t>Pass</a:t>
            </a:r>
            <a:r>
              <a:rPr lang="en-IN" dirty="0"/>
              <a:t> a </a:t>
            </a:r>
            <a:r>
              <a:rPr lang="en-IN" b="1" dirty="0"/>
              <a:t>Function </a:t>
            </a:r>
            <a:r>
              <a:rPr lang="en-IN" dirty="0"/>
              <a:t>not </a:t>
            </a:r>
            <a:r>
              <a:rPr lang="en-IN" b="1" dirty="0"/>
              <a:t>call it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dirty="0"/>
          </a:p>
          <a:p>
            <a:pPr lvl="1" indent="0">
              <a:lnSpc>
                <a:spcPct val="150000"/>
              </a:lnSpc>
              <a:buNone/>
            </a:pPr>
            <a:endParaRPr lang="en-IN" altLang="en-US" dirty="0"/>
          </a:p>
          <a:p>
            <a:endParaRPr lang="en-IN" altLang="en-US" dirty="0"/>
          </a:p>
          <a:p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F1C91-CF6D-89C7-24B3-CCF5F4184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24" y="3750051"/>
            <a:ext cx="4890476" cy="12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6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7B7F-6388-E619-91D3-C9EF104E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92243B-86F5-7721-09B8-3DA33773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IN" dirty="0"/>
              <a:t>What is a Form?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2AF9D2-02D7-E189-F3B1-4CE9A0F719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807466"/>
            <a:ext cx="10667999" cy="4245862"/>
          </a:xfrm>
        </p:spPr>
        <p:txBody>
          <a:bodyPr/>
          <a:lstStyle/>
          <a:p>
            <a:r>
              <a:rPr lang="en-IN" sz="2400" dirty="0"/>
              <a:t>A </a:t>
            </a:r>
            <a:r>
              <a:rPr lang="en-IN" sz="2400" b="1" dirty="0"/>
              <a:t>form</a:t>
            </a:r>
            <a:r>
              <a:rPr lang="en-IN" sz="2400" dirty="0"/>
              <a:t> is a collection of input elements used to collect information from users.</a:t>
            </a:r>
          </a:p>
          <a:p>
            <a:endParaRPr lang="en-IN" sz="1000" dirty="0"/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 </a:t>
            </a:r>
            <a:r>
              <a:rPr lang="en-IN" b="1" dirty="0"/>
              <a:t>controlled component</a:t>
            </a:r>
            <a:r>
              <a:rPr lang="en-IN" dirty="0"/>
              <a:t> is a form element whose value is controlled by React state.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Handling the input changes &gt; 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Preventing Default </a:t>
            </a:r>
            <a:r>
              <a:rPr lang="en-IN" dirty="0" err="1"/>
              <a:t>Behavior</a:t>
            </a:r>
            <a:r>
              <a:rPr lang="en-IN" dirty="0"/>
              <a:t> &gt;  </a:t>
            </a:r>
            <a:endParaRPr lang="en-IN" altLang="en-US" dirty="0"/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dirty="0"/>
              <a:t>Adding the validation before form submission to backend</a:t>
            </a:r>
          </a:p>
          <a:p>
            <a:pPr marL="5143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altLang="en-US" dirty="0"/>
          </a:p>
          <a:p>
            <a:endParaRPr lang="en-IN" altLang="en-US" dirty="0"/>
          </a:p>
          <a:p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089E8F-59F5-F427-AF97-2594945D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559082"/>
            <a:ext cx="5624667" cy="422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C52661-AA7E-8AA4-37D9-ADBBD999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4094010"/>
            <a:ext cx="2750182" cy="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9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826</TotalTime>
  <Words>432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Wingdings</vt:lpstr>
      <vt:lpstr>Office Theme</vt:lpstr>
      <vt:lpstr>State &amp; Events</vt:lpstr>
      <vt:lpstr>Overview – Session Content</vt:lpstr>
      <vt:lpstr>state- Managing Dynamic Data and UI in React</vt:lpstr>
      <vt:lpstr>useState</vt:lpstr>
      <vt:lpstr>Why Do We Need State?</vt:lpstr>
      <vt:lpstr>Props vs State</vt:lpstr>
      <vt:lpstr>Event and Event Handling, Forms</vt:lpstr>
      <vt:lpstr>Event Handling</vt:lpstr>
      <vt:lpstr>What is a Form?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Pranav Shilavane</dc:creator>
  <cp:keywords/>
  <dc:description/>
  <cp:lastModifiedBy>Pranav Shilavane</cp:lastModifiedBy>
  <cp:revision>6</cp:revision>
  <dcterms:created xsi:type="dcterms:W3CDTF">2026-08-07T16:44:09Z</dcterms:created>
  <dcterms:modified xsi:type="dcterms:W3CDTF">2026-08-24T01:23:49Z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