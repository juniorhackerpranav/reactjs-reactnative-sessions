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97" r:id="rId6"/>
    <p:sldId id="269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500" userDrawn="1">
          <p15:clr>
            <a:srgbClr val="A4A3A4"/>
          </p15:clr>
        </p15:guide>
        <p15:guide id="8" pos="49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2752"/>
    <a:srgbClr val="E3A097"/>
    <a:srgbClr val="F5D9D7"/>
    <a:srgbClr val="263025"/>
    <a:srgbClr val="334031"/>
    <a:srgbClr val="8A9161"/>
    <a:srgbClr val="81875A"/>
    <a:srgbClr val="000000"/>
    <a:srgbClr val="EFE0BE"/>
    <a:srgbClr val="F7F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58" y="96"/>
      </p:cViewPr>
      <p:guideLst>
        <p:guide pos="3840"/>
        <p:guide orient="horz" pos="2500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621" y="6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B8B31-1CFE-4A78-A796-40061C1B29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5D168-A009-4B34-B08F-277E0D6ABD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47A4C-1800-412B-9042-C93F1924AECC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C826E-30C5-4DD2-97CD-F700F8EBBF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BE32A-EDDE-428D-8FA7-84F681D97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1FD62-43B6-432F-96E1-BCDE3916E1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83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10/3/2026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804672"/>
            <a:ext cx="10460736" cy="3255264"/>
          </a:xfrm>
        </p:spPr>
        <p:txBody>
          <a:bodyPr anchor="b">
            <a:noAutofit/>
          </a:bodyPr>
          <a:lstStyle>
            <a:lvl1pPr algn="ctr">
              <a:defRPr sz="72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3081573" y="4526280"/>
            <a:ext cx="6028854" cy="9144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0" i="0" cap="all" spc="30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23959E-C8AF-2C32-A4AC-D79C711CACEF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991AA11-ABBF-BFA0-AACD-5E0262702116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CB6BE39-5971-4916-1DD7-91D7C3F312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CD84773-7D11-C9D4-A19C-4265A176EB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9" y="853333"/>
            <a:ext cx="4920342" cy="5151334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600" kern="1200" cap="all" spc="3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C2FAC39-06DA-FEF0-2302-B02B7C1CD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244C766-4DBD-CE50-9374-1427F1FAE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0B4AC9CD-0374-4BE7-8481-7982C4A3E9D1}" type="datetime1">
              <a:rPr lang="en-US" smtClean="0"/>
              <a:t>10/3/2026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82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5151334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02CFA45-BBBD-162A-70AD-0B37540578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D2915-BBAC-A1F0-BC9D-D3EBE576B6CA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1F310B-7369-4DED-0D01-CE0B2057D9A2}"/>
              </a:ext>
            </a:extLst>
          </p:cNvPr>
          <p:cNvCxnSpPr>
            <a:cxnSpLocks/>
          </p:cNvCxnSpPr>
          <p:nvPr/>
        </p:nvCxnSpPr>
        <p:spPr>
          <a:xfrm flipV="1">
            <a:off x="6096000" y="6281057"/>
            <a:ext cx="0" cy="249918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F80554-A5C0-4DF5-30C7-E8509F4304C5}"/>
              </a:ext>
            </a:extLst>
          </p:cNvPr>
          <p:cNvCxnSpPr>
            <a:cxnSpLocks/>
          </p:cNvCxnSpPr>
          <p:nvPr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72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9154-5D3B-2CDD-4D46-FD8867EFC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5151334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228" y="853333"/>
            <a:ext cx="4997631" cy="515133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24DDF44-6A4A-DA03-A8BE-598DC99E8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7F1B34D-5253-5267-DEAA-572BCF19B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222400DF-651A-4479-9C74-9CDA47151016}" type="datetime1">
              <a:rPr lang="en-US" smtClean="0"/>
              <a:t>10/3/2026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23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4844142" cy="3939646"/>
          </a:xfrm>
        </p:spPr>
        <p:txBody>
          <a:bodyPr anchor="t">
            <a:noAutofit/>
          </a:bodyPr>
          <a:lstStyle>
            <a:lvl1pPr algn="l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4F555129-A180-DABF-24A6-1FBDA958D7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5029200"/>
            <a:ext cx="4844143" cy="1169761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0" i="0" cap="all" spc="30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E309519-3E22-556C-E01C-12137A86C9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CD2915-BBAC-A1F0-BC9D-D3EBE576B6CA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1F310B-7369-4DED-0D01-CE0B2057D9A2}"/>
              </a:ext>
            </a:extLst>
          </p:cNvPr>
          <p:cNvCxnSpPr>
            <a:cxnSpLocks/>
          </p:cNvCxnSpPr>
          <p:nvPr/>
        </p:nvCxnSpPr>
        <p:spPr>
          <a:xfrm flipV="1">
            <a:off x="6096000" y="6281057"/>
            <a:ext cx="0" cy="249918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F80554-A5C0-4DF5-30C7-E8509F4304C5}"/>
              </a:ext>
            </a:extLst>
          </p:cNvPr>
          <p:cNvCxnSpPr>
            <a:cxnSpLocks/>
          </p:cNvCxnSpPr>
          <p:nvPr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93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567DDB1-50BA-053F-5044-13CD972E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0F5E438-B3C9-C45F-E900-E6E1E3E8DB1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3813681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9656" y="850392"/>
            <a:ext cx="4844144" cy="54041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79B0408-F353-B756-0CA4-644E881D1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D520D91-492B-A641-A848-BEB3248265F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1201FEBF-D140-4633-9B70-3A503CA61AD4}" type="datetime1">
              <a:rPr lang="en-US" smtClean="0"/>
              <a:t>10/3/2026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0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D9AFCA-1D1A-D583-A3C7-F086816A23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4606A35E-DBB6-E5DF-F837-92E894DDB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899541C-E35F-E909-EAA3-7931F9A15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3682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DB7DBB6-A2E9-1B6C-7928-330959C462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8012" y="685800"/>
            <a:ext cx="5070020" cy="5486400"/>
          </a:xfrm>
          <a:custGeom>
            <a:avLst/>
            <a:gdLst>
              <a:gd name="connsiteX0" fmla="*/ 5070020 w 5070020"/>
              <a:gd name="connsiteY0" fmla="*/ 0 h 5486400"/>
              <a:gd name="connsiteX1" fmla="*/ 5070020 w 5070020"/>
              <a:gd name="connsiteY1" fmla="*/ 5486400 h 5486400"/>
              <a:gd name="connsiteX2" fmla="*/ 0 w 5070020"/>
              <a:gd name="connsiteY2" fmla="*/ 5486399 h 5486400"/>
              <a:gd name="connsiteX3" fmla="*/ 0 w 5070020"/>
              <a:gd name="connsiteY3" fmla="*/ 579095 h 5486400"/>
              <a:gd name="connsiteX4" fmla="*/ 268 w 5070020"/>
              <a:gd name="connsiteY4" fmla="*/ 579362 h 5486400"/>
              <a:gd name="connsiteX5" fmla="*/ 582189 w 5070020"/>
              <a:gd name="connsiteY5" fmla="*/ 266 h 5486400"/>
              <a:gd name="connsiteX6" fmla="*/ 581922 w 5070020"/>
              <a:gd name="connsiteY6" fmla="*/ 1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70020" h="5486400">
                <a:moveTo>
                  <a:pt x="5070020" y="0"/>
                </a:moveTo>
                <a:lnTo>
                  <a:pt x="5070020" y="5486400"/>
                </a:lnTo>
                <a:lnTo>
                  <a:pt x="0" y="5486399"/>
                </a:lnTo>
                <a:lnTo>
                  <a:pt x="0" y="579095"/>
                </a:lnTo>
                <a:lnTo>
                  <a:pt x="268" y="579362"/>
                </a:lnTo>
                <a:lnTo>
                  <a:pt x="582189" y="266"/>
                </a:lnTo>
                <a:lnTo>
                  <a:pt x="581922" y="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D560E12-0714-B7BE-9ED4-842720026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846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8BA9668-A78D-632D-FE8F-C62FE04F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3682"/>
            <a:ext cx="4898571" cy="21883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7C70689-88FA-027C-9354-13057024FA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853334"/>
            <a:ext cx="4898571" cy="515133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C0568B-88EF-9F5A-D39D-8C9C4C573B4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A0033C0F-A5E1-BC81-421E-44E417A29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EBBC30C-0776-B059-2CBB-EE2982ECB7D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B63BE472-3891-4216-B770-F52E53667131}" type="datetime1">
              <a:rPr lang="en-US" smtClean="0"/>
              <a:t>10/3/2026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87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E7B972-F1A2-D06A-182F-39D29608A6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7521" y="3880757"/>
            <a:ext cx="4844142" cy="21231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6484A33-80F1-829D-3F76-3176D5B8D51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9658" y="850392"/>
            <a:ext cx="4844142" cy="515353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3E568F1-97D8-9686-E47A-F520BE6B1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74116E6-D006-0D1F-861D-2B50A4E1D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92C9618A-2189-4802-BD34-F288EF802528}" type="datetime1">
              <a:rPr lang="en-US" smtClean="0"/>
              <a:t>10/3/2026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38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0AFDFBEE-19C9-1F3E-D9C5-CE7C9A3CDE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7520" y="2651758"/>
            <a:ext cx="10515601" cy="34667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94F3BC-3534-81A8-CF89-6C667BDFE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AD02BD2-09CD-274D-9F5F-AD0DCD9B1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F9880A97-BB72-4C49-B020-C005FF9D43B4}" type="datetime1">
              <a:rPr lang="en-US" smtClean="0"/>
              <a:t>10/3/2026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902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2167821"/>
            <a:ext cx="8783638" cy="2522359"/>
          </a:xfrm>
        </p:spPr>
        <p:txBody>
          <a:bodyPr anchor="ctr">
            <a:noAutofit/>
          </a:bodyPr>
          <a:lstStyle>
            <a:lvl1pPr algn="ctr">
              <a:defRPr sz="5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DACFE4-8E78-B00D-57EB-B4DF9B274276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>
                <a:lumMod val="40000"/>
                <a:lumOff val="6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F81E591-3873-6FE4-95EB-DA604EDF9EBC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A7C9956-6C25-EB39-6997-F949957C6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8B0979-92D8-B3DF-EEC8-6ACC5604FA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261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8BA9668-A78D-632D-FE8F-C62FE04F2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4844143" cy="2792412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0DA40DDB-ECC4-BF05-805D-56550EB8CB9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7521" y="3813681"/>
            <a:ext cx="4844142" cy="218831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7C70689-88FA-027C-9354-13057024FA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455228" y="853334"/>
            <a:ext cx="4898571" cy="5151334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7472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73152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73152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097280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4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C0568B-88EF-9F5A-D39D-8C9C4C573B4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27025"/>
            <a:ext cx="0" cy="616086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4585FEF-898A-BE20-0E49-7060E3A08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CAC8CAA-7BE1-C6AD-8CAA-7EF23C3F385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8B1E16E5-E5E5-4583-9AF7-83D9607A8145}" type="datetime1">
              <a:rPr lang="en-US" smtClean="0"/>
              <a:t>10/3/2026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972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505" y="1013460"/>
            <a:ext cx="8682990" cy="2230802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505" y="3429000"/>
            <a:ext cx="8682989" cy="2230802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600" kern="1200" cap="all" spc="3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10000"/>
              </a:lnSpc>
              <a:buFont typeface="Arial" panose="020B0604020202020204" pitchFamily="34" charset="0"/>
              <a:buChar char="•"/>
              <a:defRPr lang="en-US" sz="16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75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3"/>
                </a:solidFill>
              </a:defRPr>
            </a:lvl1pPr>
          </a:lstStyle>
          <a:p>
            <a:fld id="{3CA3B387-33D3-4D27-BE27-9B85ACC6AC8A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608E0E-05B9-F221-80C3-04CA4E4ABA35}"/>
              </a:ext>
            </a:extLst>
          </p:cNvPr>
          <p:cNvSpPr/>
          <p:nvPr userDrawn="1"/>
        </p:nvSpPr>
        <p:spPr>
          <a:xfrm>
            <a:off x="361950" y="327025"/>
            <a:ext cx="11468100" cy="6203950"/>
          </a:xfrm>
          <a:prstGeom prst="rect">
            <a:avLst/>
          </a:prstGeom>
          <a:noFill/>
          <a:ln w="28575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D2231DE-625E-E718-1111-43464C19E14D}"/>
              </a:ext>
            </a:extLst>
          </p:cNvPr>
          <p:cNvGrpSpPr/>
          <p:nvPr userDrawn="1"/>
        </p:nvGrpSpPr>
        <p:grpSpPr>
          <a:xfrm>
            <a:off x="6096000" y="327025"/>
            <a:ext cx="0" cy="6203950"/>
            <a:chOff x="6096000" y="327025"/>
            <a:chExt cx="0" cy="620395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C307328-46EA-E83E-5BCB-1C57369D3A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603F6C5-78F9-FA16-B62C-389A70997B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6" r:id="rId2"/>
    <p:sldLayoutId id="2147483718" r:id="rId3"/>
    <p:sldLayoutId id="2147483712" r:id="rId4"/>
    <p:sldLayoutId id="2147483719" r:id="rId5"/>
    <p:sldLayoutId id="2147483705" r:id="rId6"/>
    <p:sldLayoutId id="2147483713" r:id="rId7"/>
    <p:sldLayoutId id="2147483699" r:id="rId8"/>
    <p:sldLayoutId id="2147483716" r:id="rId9"/>
    <p:sldLayoutId id="2147483702" r:id="rId10"/>
    <p:sldLayoutId id="2147483714" r:id="rId11"/>
    <p:sldLayoutId id="2147483720" r:id="rId12"/>
    <p:sldLayoutId id="214748370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27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857963-8D3D-4F24-B535-54652EE0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804672"/>
            <a:ext cx="10460736" cy="3255264"/>
          </a:xfrm>
        </p:spPr>
        <p:txBody>
          <a:bodyPr anchor="b"/>
          <a:lstStyle/>
          <a:p>
            <a:r>
              <a:rPr lang="en-US" dirty="0"/>
              <a:t>Redux Toolkit</a:t>
            </a:r>
          </a:p>
        </p:txBody>
      </p:sp>
    </p:spTree>
    <p:extLst>
      <p:ext uri="{BB962C8B-B14F-4D97-AF65-F5344CB8AC3E}">
        <p14:creationId xmlns:p14="http://schemas.microsoft.com/office/powerpoint/2010/main" val="214231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7C210A-35DC-ABCF-669D-DAAA1B3B13F0}"/>
              </a:ext>
            </a:extLst>
          </p:cNvPr>
          <p:cNvSpPr txBox="1"/>
          <p:nvPr/>
        </p:nvSpPr>
        <p:spPr>
          <a:xfrm>
            <a:off x="1161288" y="1560988"/>
            <a:ext cx="4453128" cy="3283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+mj-lt"/>
              </a:rPr>
              <a:t>Introduction to Redux Toolkit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+mj-lt"/>
              </a:rPr>
              <a:t>Redux Toolkit Architecture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+mj-lt"/>
              </a:rPr>
              <a:t>Installing Redux Toolkit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+mj-lt"/>
              </a:rPr>
              <a:t>Creating the Redux Store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+mj-lt"/>
              </a:rPr>
              <a:t>Provider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+mj-lt"/>
              </a:rPr>
              <a:t>What is a Slice?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+mj-lt"/>
              </a:rPr>
              <a:t>Creating a Slice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68E384-CF8D-FB24-990A-CF49B5ADF4E6}"/>
              </a:ext>
            </a:extLst>
          </p:cNvPr>
          <p:cNvSpPr txBox="1"/>
          <p:nvPr/>
        </p:nvSpPr>
        <p:spPr>
          <a:xfrm>
            <a:off x="6577584" y="1560988"/>
            <a:ext cx="4453128" cy="3283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1"/>
                </a:solidFill>
                <a:latin typeface="+mj-lt"/>
              </a:rPr>
              <a:t>8.   Initial State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1"/>
                </a:solidFill>
                <a:latin typeface="+mj-lt"/>
              </a:rPr>
              <a:t>9.   Reducers in Redux Toolkit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1"/>
                </a:solidFill>
                <a:latin typeface="+mj-lt"/>
              </a:rPr>
              <a:t>11.  Actions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1"/>
                </a:solidFill>
                <a:latin typeface="+mj-lt"/>
              </a:rPr>
              <a:t>12.  Payload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1"/>
                </a:solidFill>
                <a:latin typeface="+mj-lt"/>
              </a:rPr>
              <a:t>13.  </a:t>
            </a:r>
            <a:r>
              <a:rPr lang="en-IN" sz="2000" b="1" dirty="0" err="1">
                <a:solidFill>
                  <a:schemeClr val="bg1"/>
                </a:solidFill>
                <a:latin typeface="+mj-lt"/>
              </a:rPr>
              <a:t>useDispatch</a:t>
            </a:r>
            <a:r>
              <a:rPr lang="en-IN" sz="2000" b="1" dirty="0">
                <a:solidFill>
                  <a:schemeClr val="bg1"/>
                </a:solidFill>
                <a:latin typeface="+mj-lt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1"/>
                </a:solidFill>
                <a:latin typeface="+mj-lt"/>
              </a:rPr>
              <a:t>14.  </a:t>
            </a:r>
            <a:r>
              <a:rPr lang="en-IN" sz="2000" b="1" dirty="0" err="1">
                <a:solidFill>
                  <a:schemeClr val="bg1"/>
                </a:solidFill>
                <a:latin typeface="+mj-lt"/>
              </a:rPr>
              <a:t>useSelector</a:t>
            </a:r>
            <a:r>
              <a:rPr lang="en-IN" sz="2000" b="1" dirty="0">
                <a:solidFill>
                  <a:schemeClr val="bg1"/>
                </a:solidFill>
                <a:latin typeface="+mj-lt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bg1"/>
                </a:solidFill>
                <a:latin typeface="+mj-lt"/>
              </a:rPr>
              <a:t>15.  Context API vs Redux Toolkit</a:t>
            </a:r>
          </a:p>
        </p:txBody>
      </p:sp>
    </p:spTree>
    <p:extLst>
      <p:ext uri="{BB962C8B-B14F-4D97-AF65-F5344CB8AC3E}">
        <p14:creationId xmlns:p14="http://schemas.microsoft.com/office/powerpoint/2010/main" val="378694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941831"/>
            <a:ext cx="9622536" cy="646283"/>
          </a:xfrm>
          <a:noFill/>
        </p:spPr>
        <p:txBody>
          <a:bodyPr anchor="ctr">
            <a:noAutofit/>
          </a:bodyPr>
          <a:lstStyle/>
          <a:p>
            <a:pPr algn="l"/>
            <a:r>
              <a:rPr lang="en-IN" b="1" dirty="0"/>
              <a:t>1. Introduction to Redux Toolkit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28876-4455-998E-729A-5516FD1642BA}"/>
              </a:ext>
            </a:extLst>
          </p:cNvPr>
          <p:cNvSpPr txBox="1"/>
          <p:nvPr/>
        </p:nvSpPr>
        <p:spPr>
          <a:xfrm>
            <a:off x="1139952" y="1956816"/>
            <a:ext cx="9096883" cy="2783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Redux Toolkit (RTK)</a:t>
            </a:r>
            <a:r>
              <a:rPr lang="en-IN" dirty="0"/>
              <a:t> is the official recommended way to write Redux logic.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It simplifies Redux development and reduces boilerplate code.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Provides built-in utilities for creating stores, slices, reducers, and async logic.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Works seamlessly with React through react-redux.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Makes Redux code easier to write, maintain, and organize.</a:t>
            </a:r>
          </a:p>
        </p:txBody>
      </p:sp>
    </p:spTree>
    <p:extLst>
      <p:ext uri="{BB962C8B-B14F-4D97-AF65-F5344CB8AC3E}">
        <p14:creationId xmlns:p14="http://schemas.microsoft.com/office/powerpoint/2010/main" val="416955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46189-15E8-A603-AC36-48D8D93A2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CAE2-25CE-1B1C-1DB3-E0E48BA1C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941831"/>
            <a:ext cx="9622536" cy="646283"/>
          </a:xfrm>
          <a:noFill/>
        </p:spPr>
        <p:txBody>
          <a:bodyPr anchor="ctr">
            <a:noAutofit/>
          </a:bodyPr>
          <a:lstStyle/>
          <a:p>
            <a:pPr algn="l"/>
            <a:r>
              <a:rPr lang="en-IN" b="1" dirty="0"/>
              <a:t>2. Redux Toolkit Architecture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332E5E-AA58-6612-A1C5-3458FC082C66}"/>
              </a:ext>
            </a:extLst>
          </p:cNvPr>
          <p:cNvSpPr txBox="1"/>
          <p:nvPr/>
        </p:nvSpPr>
        <p:spPr>
          <a:xfrm>
            <a:off x="1139952" y="1956816"/>
            <a:ext cx="9096883" cy="2229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Component dispatches an action.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Slice reducer processes the action.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Store updates the state.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Components using that state are updated.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10AD2-D512-8FDE-8213-A66313CB0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1326292"/>
            <a:ext cx="2061287" cy="45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06A60-5289-5F61-9610-9DCFC76FF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F13C-694D-AE14-A9EF-6C22DA7B9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941831"/>
            <a:ext cx="9622536" cy="646283"/>
          </a:xfrm>
          <a:noFill/>
        </p:spPr>
        <p:txBody>
          <a:bodyPr anchor="ctr">
            <a:noAutofit/>
          </a:bodyPr>
          <a:lstStyle/>
          <a:p>
            <a:pPr algn="l"/>
            <a:r>
              <a:rPr lang="en-IN" b="1" dirty="0"/>
              <a:t>3. Installing Redux Toolkit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542D2-ACE3-2391-2D5A-16635FDE20DD}"/>
              </a:ext>
            </a:extLst>
          </p:cNvPr>
          <p:cNvSpPr txBox="1"/>
          <p:nvPr/>
        </p:nvSpPr>
        <p:spPr>
          <a:xfrm>
            <a:off x="1139952" y="1938528"/>
            <a:ext cx="909688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/>
              <a:t>Installation Command : </a:t>
            </a:r>
          </a:p>
          <a:p>
            <a:pPr lvl="0"/>
            <a:endParaRPr lang="en-US" sz="2000" dirty="0"/>
          </a:p>
          <a:p>
            <a:pPr lvl="0"/>
            <a:r>
              <a:rPr lang="en-US" sz="2000" dirty="0"/>
              <a:t>	</a:t>
            </a:r>
            <a:r>
              <a:rPr lang="en-US" sz="2000" dirty="0" err="1"/>
              <a:t>npm</a:t>
            </a:r>
            <a:r>
              <a:rPr lang="en-US" sz="2000" dirty="0"/>
              <a:t> install @reduxjs/toolkit react-redux</a:t>
            </a:r>
            <a:endParaRPr lang="en-IN" sz="2000" dirty="0"/>
          </a:p>
          <a:p>
            <a:pPr lvl="0"/>
            <a:endParaRPr lang="en-IN" sz="2000" dirty="0"/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// @reduxjs/toolkit → Provides Redux Toolkit functionality. 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// react-redux → Connects Redux with React components.</a:t>
            </a:r>
          </a:p>
        </p:txBody>
      </p:sp>
    </p:spTree>
    <p:extLst>
      <p:ext uri="{BB962C8B-B14F-4D97-AF65-F5344CB8AC3E}">
        <p14:creationId xmlns:p14="http://schemas.microsoft.com/office/powerpoint/2010/main" val="837727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A1563-03DE-C499-226A-6F484C661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CDBC-1ADE-F30A-EBAB-4F2D494AD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941831"/>
            <a:ext cx="9622536" cy="646283"/>
          </a:xfrm>
          <a:noFill/>
        </p:spPr>
        <p:txBody>
          <a:bodyPr anchor="ctr">
            <a:noAutofit/>
          </a:bodyPr>
          <a:lstStyle/>
          <a:p>
            <a:pPr algn="l"/>
            <a:r>
              <a:rPr lang="en-IN" b="1" dirty="0"/>
              <a:t>4. Creating the Redux Store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37F52-1963-6109-6181-F1F6587A42E2}"/>
              </a:ext>
            </a:extLst>
          </p:cNvPr>
          <p:cNvSpPr txBox="1"/>
          <p:nvPr/>
        </p:nvSpPr>
        <p:spPr>
          <a:xfrm>
            <a:off x="1139952" y="1588114"/>
            <a:ext cx="9096883" cy="1675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The store is the central location for application state.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 err="1"/>
              <a:t>configureStore</a:t>
            </a:r>
            <a:r>
              <a:rPr lang="en-IN" dirty="0"/>
              <a:t>() creates and configures the Redux store.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Multiple feature reducers can be registered in the store.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EF492-6425-7185-C902-AAC9723C3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52" y="3593915"/>
            <a:ext cx="7020905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421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5EA83-BD50-F4CC-24A1-6D5AE20F5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6DE8C-6C4D-6A05-B1AE-8CF81CC6B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941831"/>
            <a:ext cx="9622536" cy="646283"/>
          </a:xfrm>
          <a:noFill/>
        </p:spPr>
        <p:txBody>
          <a:bodyPr anchor="ctr">
            <a:noAutofit/>
          </a:bodyPr>
          <a:lstStyle/>
          <a:p>
            <a:pPr algn="l"/>
            <a:r>
              <a:rPr lang="en-IN" b="1" dirty="0"/>
              <a:t>5. Provider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C08FFA-A47A-10CF-2362-9DECB6B3DDA1}"/>
              </a:ext>
            </a:extLst>
          </p:cNvPr>
          <p:cNvSpPr txBox="1"/>
          <p:nvPr/>
        </p:nvSpPr>
        <p:spPr>
          <a:xfrm>
            <a:off x="1139952" y="1956815"/>
            <a:ext cx="4534532" cy="2783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/>
              <a:t>Provider makes the Redux store available to React components.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/>
              <a:t>It is generally placed at the root of the application.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/>
              <a:t>The store is passed using the store prop.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2B31DD-8C08-DD17-39BF-18B9A6A5A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00225"/>
            <a:ext cx="5432129" cy="348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64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E292-C487-9297-C64A-BC8ABB8C2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49C33-8D39-A8EF-E98D-8C35B2A02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941831"/>
            <a:ext cx="9622536" cy="646283"/>
          </a:xfrm>
          <a:noFill/>
        </p:spPr>
        <p:txBody>
          <a:bodyPr anchor="ctr">
            <a:noAutofit/>
          </a:bodyPr>
          <a:lstStyle/>
          <a:p>
            <a:pPr algn="l"/>
            <a:r>
              <a:rPr lang="en-IN" b="1" dirty="0"/>
              <a:t>6. What is a Slice?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CFF524-C4C3-2179-2929-54B96E1D4298}"/>
              </a:ext>
            </a:extLst>
          </p:cNvPr>
          <p:cNvSpPr txBox="1"/>
          <p:nvPr/>
        </p:nvSpPr>
        <p:spPr>
          <a:xfrm>
            <a:off x="1139952" y="1956816"/>
            <a:ext cx="9467087" cy="389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A </a:t>
            </a:r>
            <a:r>
              <a:rPr lang="en-IN" b="1" dirty="0"/>
              <a:t>slice</a:t>
            </a:r>
            <a:r>
              <a:rPr lang="en-IN" dirty="0"/>
              <a:t> represents one feature or section of the application state.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Created using </a:t>
            </a:r>
            <a:r>
              <a:rPr lang="en-IN" dirty="0" err="1"/>
              <a:t>createSlice</a:t>
            </a:r>
            <a:r>
              <a:rPr lang="en-IN" dirty="0"/>
              <a:t>().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A slice contains: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Slice name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Initial state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Reducers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Actions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Redux Toolkit automatically generates action creators from reducers.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0814C9-31AE-3C81-72AE-D7673BC37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1154" y="2247846"/>
            <a:ext cx="2450894" cy="236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925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5CDDB-8AF5-8008-4EBD-9666E7292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3F7B2-FBAB-7A70-2936-19286AEA5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941831"/>
            <a:ext cx="9622536" cy="646283"/>
          </a:xfrm>
          <a:noFill/>
        </p:spPr>
        <p:txBody>
          <a:bodyPr anchor="ctr">
            <a:noAutofit/>
          </a:bodyPr>
          <a:lstStyle/>
          <a:p>
            <a:pPr algn="l"/>
            <a:r>
              <a:rPr lang="en-IN" b="1" dirty="0"/>
              <a:t>7. Creating a Slice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534CB-8460-5780-1F23-09B5BBED6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034" y="584577"/>
            <a:ext cx="4427270" cy="5688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8F18DD-2353-577B-155C-F50017ADD56D}"/>
              </a:ext>
            </a:extLst>
          </p:cNvPr>
          <p:cNvSpPr txBox="1"/>
          <p:nvPr/>
        </p:nvSpPr>
        <p:spPr>
          <a:xfrm>
            <a:off x="1166048" y="2084832"/>
            <a:ext cx="5298245" cy="3337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name → Name of the slice.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 err="1"/>
              <a:t>initialState</a:t>
            </a:r>
            <a:r>
              <a:rPr lang="en-IN" dirty="0"/>
              <a:t> → Starting state.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reducers → Functions that modify the state.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actions → Automatically generated from reducers.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reducer → Exported and added to the store.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0447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4BC1D-7BA3-C823-141B-43AAED2DD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FDFCA-43C7-D233-F022-1F14CE665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941831"/>
            <a:ext cx="9622536" cy="646283"/>
          </a:xfrm>
          <a:noFill/>
        </p:spPr>
        <p:txBody>
          <a:bodyPr anchor="ctr">
            <a:noAutofit/>
          </a:bodyPr>
          <a:lstStyle/>
          <a:p>
            <a:pPr algn="l"/>
            <a:r>
              <a:rPr lang="en-IN" b="1" dirty="0"/>
              <a:t>8. Initial State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2CDF70-0325-694E-DD09-6B22149BAAB4}"/>
              </a:ext>
            </a:extLst>
          </p:cNvPr>
          <p:cNvSpPr txBox="1"/>
          <p:nvPr/>
        </p:nvSpPr>
        <p:spPr>
          <a:xfrm>
            <a:off x="1139953" y="1956816"/>
            <a:ext cx="4858512" cy="2783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 err="1"/>
              <a:t>initialState</a:t>
            </a:r>
            <a:r>
              <a:rPr lang="en-IN" dirty="0"/>
              <a:t> defines the initial data of a slice.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It can contain a single value or multiple properties.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The state structure should represent the feature being managed.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1C4A4D-0EF5-B5DE-C0B0-702E78412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37" y="957179"/>
            <a:ext cx="4566665" cy="495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7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7CB41-A9AB-338B-1B3D-AEB385E04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FEA8-871F-FA66-57E2-A2C11C16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941831"/>
            <a:ext cx="9622536" cy="646283"/>
          </a:xfrm>
          <a:noFill/>
        </p:spPr>
        <p:txBody>
          <a:bodyPr anchor="ctr">
            <a:noAutofit/>
          </a:bodyPr>
          <a:lstStyle/>
          <a:p>
            <a:pPr algn="l"/>
            <a:r>
              <a:rPr lang="en-IN" b="1" dirty="0"/>
              <a:t>9. Reducers in Redux Toolkit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85F32-C2C7-9283-4CAF-1B7750B2AFBD}"/>
              </a:ext>
            </a:extLst>
          </p:cNvPr>
          <p:cNvSpPr txBox="1"/>
          <p:nvPr/>
        </p:nvSpPr>
        <p:spPr>
          <a:xfrm>
            <a:off x="1139953" y="1956816"/>
            <a:ext cx="4602480" cy="333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Reducers define how the state changes.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Each reducer handles a particular action.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Redux Toolkit uses </a:t>
            </a:r>
            <a:r>
              <a:rPr lang="en-IN" b="1" dirty="0"/>
              <a:t>Immer</a:t>
            </a:r>
            <a:r>
              <a:rPr lang="en-IN" dirty="0"/>
              <a:t> internally.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This allows developers to write mutation-style code while maintaining immutable state updates internally.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A3BCAF-1AAC-4745-80C0-B6883F1DC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633" y="1956816"/>
            <a:ext cx="4364414" cy="376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793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C228B-14C3-0904-AFD2-4BBA5F926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1280A-B744-0B6E-24EC-DD6A1C01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941831"/>
            <a:ext cx="9622536" cy="646283"/>
          </a:xfrm>
          <a:noFill/>
        </p:spPr>
        <p:txBody>
          <a:bodyPr anchor="ctr">
            <a:noAutofit/>
          </a:bodyPr>
          <a:lstStyle/>
          <a:p>
            <a:pPr algn="l"/>
            <a:r>
              <a:rPr lang="en-IN" b="1" dirty="0"/>
              <a:t>10. Actions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326734-2170-9C72-1241-3E9A62E21455}"/>
              </a:ext>
            </a:extLst>
          </p:cNvPr>
          <p:cNvSpPr txBox="1"/>
          <p:nvPr/>
        </p:nvSpPr>
        <p:spPr>
          <a:xfrm>
            <a:off x="1139953" y="1956816"/>
            <a:ext cx="5187696" cy="2783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Actions describe an event that occurred.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Redux Toolkit automatically creates actions from the reducers defined inside </a:t>
            </a:r>
            <a:r>
              <a:rPr lang="en-IN" dirty="0" err="1"/>
              <a:t>createSlice</a:t>
            </a:r>
            <a:r>
              <a:rPr lang="en-IN" dirty="0"/>
              <a:t>().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Actions can also carry additional data through a </a:t>
            </a:r>
            <a:r>
              <a:rPr lang="en-IN" b="1" dirty="0"/>
              <a:t>payload</a:t>
            </a:r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945131-4549-5E1B-535E-AAA8C3E76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395" y="2314171"/>
            <a:ext cx="4455573" cy="206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94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BB4CC-22B0-9B33-9DFD-EB04BC79E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0EA13-0180-6370-4677-FC01FA1F9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941831"/>
            <a:ext cx="9622536" cy="646283"/>
          </a:xfrm>
          <a:noFill/>
        </p:spPr>
        <p:txBody>
          <a:bodyPr anchor="ctr">
            <a:noAutofit/>
          </a:bodyPr>
          <a:lstStyle/>
          <a:p>
            <a:pPr algn="l"/>
            <a:r>
              <a:rPr lang="en-IN" b="1" dirty="0"/>
              <a:t>11. Payload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7D4A71-0E41-C1A3-ABAD-C2F337907CE9}"/>
              </a:ext>
            </a:extLst>
          </p:cNvPr>
          <p:cNvSpPr txBox="1"/>
          <p:nvPr/>
        </p:nvSpPr>
        <p:spPr>
          <a:xfrm>
            <a:off x="1139952" y="1956816"/>
            <a:ext cx="9096883" cy="1121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Payload is the data sent along with an action.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Used when the reducer needs additional information.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7CBFFF-CD6C-8048-E7CD-33F6690CB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51" y="3686322"/>
            <a:ext cx="5437263" cy="112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214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F81C1-4347-DB87-9F54-DF192EA87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FBFD0-E0F9-233C-0BE2-96D007F00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941831"/>
            <a:ext cx="9622536" cy="646283"/>
          </a:xfrm>
          <a:noFill/>
        </p:spPr>
        <p:txBody>
          <a:bodyPr anchor="ctr">
            <a:noAutofit/>
          </a:bodyPr>
          <a:lstStyle/>
          <a:p>
            <a:pPr algn="l"/>
            <a:r>
              <a:rPr lang="en-IN" b="1" dirty="0"/>
              <a:t>12. </a:t>
            </a:r>
            <a:r>
              <a:rPr lang="en-IN" b="1" dirty="0" err="1"/>
              <a:t>useDispatch</a:t>
            </a:r>
            <a:r>
              <a:rPr lang="en-IN" b="1" dirty="0"/>
              <a:t>()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836F0-03E8-87BA-8D26-5250FD9BAAFA}"/>
              </a:ext>
            </a:extLst>
          </p:cNvPr>
          <p:cNvSpPr txBox="1"/>
          <p:nvPr/>
        </p:nvSpPr>
        <p:spPr>
          <a:xfrm>
            <a:off x="1139953" y="1956816"/>
            <a:ext cx="4956048" cy="2783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 err="1"/>
              <a:t>useDispatch</a:t>
            </a:r>
            <a:r>
              <a:rPr lang="en-IN" dirty="0"/>
              <a:t>() gives access to the Redux dispatch function.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Used to send actions from React components.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Dispatching an action triggers the corresponding reducer.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D8554-8ED7-60D1-D9E9-747AE9403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026" y="2072214"/>
            <a:ext cx="4956046" cy="293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489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88F86-C902-4ABB-FB7A-C145784E3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ADA08-A1D9-1CBC-3FD8-CC89B416A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941831"/>
            <a:ext cx="9622536" cy="646283"/>
          </a:xfrm>
          <a:noFill/>
        </p:spPr>
        <p:txBody>
          <a:bodyPr anchor="ctr">
            <a:noAutofit/>
          </a:bodyPr>
          <a:lstStyle/>
          <a:p>
            <a:pPr algn="l"/>
            <a:r>
              <a:rPr lang="en-IN" b="1" dirty="0"/>
              <a:t>13. </a:t>
            </a:r>
            <a:r>
              <a:rPr lang="en-IN" b="1" dirty="0" err="1"/>
              <a:t>useSelector</a:t>
            </a:r>
            <a:r>
              <a:rPr lang="en-IN" b="1" dirty="0"/>
              <a:t>()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3D262-13D0-6D6F-BC9D-90FEE23F4FB0}"/>
              </a:ext>
            </a:extLst>
          </p:cNvPr>
          <p:cNvSpPr txBox="1"/>
          <p:nvPr/>
        </p:nvSpPr>
        <p:spPr>
          <a:xfrm>
            <a:off x="1139953" y="1956816"/>
            <a:ext cx="4820324" cy="2783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 err="1"/>
              <a:t>useSelector</a:t>
            </a:r>
            <a:r>
              <a:rPr lang="en-IN" dirty="0"/>
              <a:t>() is used to read data from the Redux store.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It selects a specific part of the Redux state.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/>
              <a:t>The component re-renders when the selected state changes.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E291D8-54F1-C5A5-95C4-3CB7EEC24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054" y="1956816"/>
            <a:ext cx="5049900" cy="261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33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60039-4A70-F4F4-5A5A-39FD8DFC5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BDEB4-19F5-BBD2-5029-AF8A8D1DA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941831"/>
            <a:ext cx="9622536" cy="646283"/>
          </a:xfrm>
          <a:noFill/>
        </p:spPr>
        <p:txBody>
          <a:bodyPr anchor="ctr">
            <a:noAutofit/>
          </a:bodyPr>
          <a:lstStyle/>
          <a:p>
            <a:pPr algn="l"/>
            <a:r>
              <a:rPr lang="en-IN" b="1" dirty="0"/>
              <a:t>14. Context API vs Redux Toolkit</a:t>
            </a:r>
            <a:endParaRPr lang="en-US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1BF1EE-A010-637F-C048-BC8E66511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05643"/>
              </p:ext>
            </p:extLst>
          </p:nvPr>
        </p:nvGraphicFramePr>
        <p:xfrm>
          <a:off x="1222248" y="2066607"/>
          <a:ext cx="9704832" cy="256032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4966833">
                  <a:extLst>
                    <a:ext uri="{9D8B030D-6E8A-4147-A177-3AD203B41FA5}">
                      <a16:colId xmlns:a16="http://schemas.microsoft.com/office/drawing/2014/main" val="4250780873"/>
                    </a:ext>
                  </a:extLst>
                </a:gridCol>
                <a:gridCol w="4737999">
                  <a:extLst>
                    <a:ext uri="{9D8B030D-6E8A-4147-A177-3AD203B41FA5}">
                      <a16:colId xmlns:a16="http://schemas.microsoft.com/office/drawing/2014/main" val="56124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Context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Redux Toolkit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97519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Built into React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Separate Redux package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92610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Simple shared 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Structured application state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58137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Minimal setup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features and structure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72793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built-in reducers/actions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Slices provide reducers/actions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81138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Suitable for simple global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Suitable for complex shared state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79082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Async logic requires additional patterns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Provides Redux Toolkit async utilities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5226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68509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69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E69F9A"/>
      </a:accent1>
      <a:accent2>
        <a:srgbClr val="C38C44"/>
      </a:accent2>
      <a:accent3>
        <a:srgbClr val="B32752"/>
      </a:accent3>
      <a:accent4>
        <a:srgbClr val="F5BF77"/>
      </a:accent4>
      <a:accent5>
        <a:srgbClr val="BDBB78"/>
      </a:accent5>
      <a:accent6>
        <a:srgbClr val="9FCDC6"/>
      </a:accent6>
      <a:hlink>
        <a:srgbClr val="F7B615"/>
      </a:hlink>
      <a:folHlink>
        <a:srgbClr val="704404"/>
      </a:folHlink>
    </a:clrScheme>
    <a:fontScheme name="Custom 190">
      <a:majorFont>
        <a:latin typeface="DM Serif Display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M88997677_win32_LW_V2" id="{A337E98B-B78A-4478-A7B4-5BC118FBE473}" vid="{BFD76E1B-16BC-4706-8DD0-46BF66D357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6A71AF-4CF2-4B95-BFB6-5C27500258C6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230e9df3-be65-4c73-a93b-d1236ebd677e"/>
    <ds:schemaRef ds:uri="71af3243-3dd4-4a8d-8c0d-dd76da1f02a5"/>
    <ds:schemaRef ds:uri="16c05727-aa75-4e4a-9b5f-8a80a1165891"/>
    <ds:schemaRef ds:uri="http://schemas.microsoft.com/sharepoint/v3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18B1F56-8983-41A9-8E90-86247BC2C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60B100-7079-4DE7-AF7C-20BFB1D62C4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Rose suite presentation</Template>
  <TotalTime>94</TotalTime>
  <Words>586</Words>
  <Application>Microsoft Office PowerPoint</Application>
  <PresentationFormat>Widescreen</PresentationFormat>
  <Paragraphs>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DM Serif Display</vt:lpstr>
      <vt:lpstr>Source Sans Pro</vt:lpstr>
      <vt:lpstr>Wingdings</vt:lpstr>
      <vt:lpstr>Custom</vt:lpstr>
      <vt:lpstr>Redux Toolkit</vt:lpstr>
      <vt:lpstr>PowerPoint Presentation</vt:lpstr>
      <vt:lpstr>1. Introduction to Redux Toolkit</vt:lpstr>
      <vt:lpstr>2. Redux Toolkit Architecture</vt:lpstr>
      <vt:lpstr>3. Installing Redux Toolkit</vt:lpstr>
      <vt:lpstr>4. Creating the Redux Store</vt:lpstr>
      <vt:lpstr>5. Provider</vt:lpstr>
      <vt:lpstr>6. What is a Slice?</vt:lpstr>
      <vt:lpstr>7. Creating a Slice</vt:lpstr>
      <vt:lpstr>8. Initial State</vt:lpstr>
      <vt:lpstr>9. Reducers in Redux Toolkit</vt:lpstr>
      <vt:lpstr>10. Actions</vt:lpstr>
      <vt:lpstr>11. Payload</vt:lpstr>
      <vt:lpstr>12. useDispatch()</vt:lpstr>
      <vt:lpstr>13. useSelector()</vt:lpstr>
      <vt:lpstr>14. Context API vs Redux Toolkit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 Shilavane</dc:creator>
  <cp:lastModifiedBy>Pranav Shilavane</cp:lastModifiedBy>
  <cp:revision>2</cp:revision>
  <dcterms:created xsi:type="dcterms:W3CDTF">2026-10-03T06:31:54Z</dcterms:created>
  <dcterms:modified xsi:type="dcterms:W3CDTF">2026-10-03T09:43:35Z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