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1938" r:id="rId5"/>
    <p:sldId id="1942" r:id="rId6"/>
    <p:sldId id="1943" r:id="rId7"/>
    <p:sldId id="1935" r:id="rId8"/>
    <p:sldId id="1940" r:id="rId9"/>
    <p:sldId id="194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071"/>
    <a:srgbClr val="FF7676"/>
    <a:srgbClr val="6A1F60"/>
    <a:srgbClr val="CA4F67"/>
    <a:srgbClr val="0796D0"/>
    <a:srgbClr val="C60B68"/>
    <a:srgbClr val="F7D6D6"/>
    <a:srgbClr val="A69AC7"/>
    <a:srgbClr val="EACAD0"/>
    <a:srgbClr val="C50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42" autoAdjust="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10/1/2026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A03A7DE-E2C6-D3DE-2D3C-0E50AB453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348" y="822701"/>
            <a:ext cx="5439251" cy="5439251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155AC3-4048-A012-522F-9975DD437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52413" y="131855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6BC318-7E9C-A53F-C445-78301FFF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841" y="5012346"/>
            <a:ext cx="837678" cy="837678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EC2B4886-6DF6-0A57-7118-513A7AAA4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53347" y="0"/>
            <a:ext cx="1499066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216" y="2130552"/>
            <a:ext cx="4590288" cy="1764792"/>
          </a:xfrm>
        </p:spPr>
        <p:txBody>
          <a:bodyPr anchor="t">
            <a:noAutofit/>
          </a:bodyPr>
          <a:lstStyle>
            <a:lvl1pPr>
              <a:defRPr sz="5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8598" y="3895344"/>
            <a:ext cx="4591906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EBEF97-3620-43B4-9D9A-099216F753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5840" y="1316736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40080" y="1847088"/>
            <a:ext cx="7424928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483077" y="1921304"/>
            <a:ext cx="5708922" cy="4941678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01466" y="1425943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2480" y="2715768"/>
            <a:ext cx="3364992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rm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2029" y="3432619"/>
            <a:ext cx="3586781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622" y="1953365"/>
            <a:ext cx="5149695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269" y="6194361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46860" y="-169312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3700" y="2891437"/>
            <a:ext cx="4183547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24131" y="2343177"/>
            <a:ext cx="476768" cy="2830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528" y="2454311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528" y="3222369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4528" y="3992637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4528" y="4775296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2727" y="3014462"/>
            <a:ext cx="642974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5988532"/>
            <a:ext cx="2953834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6069965"/>
            <a:ext cx="510053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306096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4421" y="1377730"/>
            <a:ext cx="3658597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551" y="0"/>
            <a:ext cx="11756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7386" y="4880996"/>
            <a:ext cx="1499065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1124" y="1169282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65453" y="5422957"/>
            <a:ext cx="600979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84941"/>
            <a:ext cx="5739305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00869" y="447695"/>
            <a:ext cx="1499065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386" y="1273861"/>
            <a:ext cx="5149695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55536" y="2000952"/>
            <a:ext cx="3844355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812124" y="1474457"/>
            <a:ext cx="493649" cy="40656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55536" y="1605845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5536" y="2373903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55536" y="3144171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5536" y="3926830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55536" y="4693042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10403704" y="596187"/>
            <a:ext cx="2384490" cy="119210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287" y="4334114"/>
            <a:ext cx="114944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18661" y="-1535"/>
            <a:ext cx="6184356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89666" y="1067784"/>
            <a:ext cx="635955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963611" y="-9427"/>
            <a:ext cx="2384497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579796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82616" y="378865"/>
            <a:ext cx="813384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75619" y="5909834"/>
            <a:ext cx="397747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39496" y="612648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3206" y="5671159"/>
            <a:ext cx="2384497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93690" y="6190487"/>
            <a:ext cx="846621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2398" y="4482109"/>
            <a:ext cx="5279603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8287" y="5875583"/>
            <a:ext cx="1499066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5824445"/>
            <a:ext cx="73504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9496" y="61264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7112" y="6190487"/>
            <a:ext cx="27432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9E9CFE-1820-51D6-3F5B-5FD2FCD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644" y="2903438"/>
            <a:ext cx="4590288" cy="1764792"/>
          </a:xfrm>
        </p:spPr>
        <p:txBody>
          <a:bodyPr/>
          <a:lstStyle/>
          <a:p>
            <a:r>
              <a:rPr lang="en-US" dirty="0"/>
              <a:t>React Native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06CBE-C674-3551-5529-A3CDA0D6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479906"/>
            <a:ext cx="3537857" cy="407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9258-247D-2F1F-6517-CEED1D2A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441684"/>
            <a:ext cx="11119104" cy="640080"/>
          </a:xfrm>
        </p:spPr>
        <p:txBody>
          <a:bodyPr/>
          <a:lstStyle/>
          <a:p>
            <a:r>
              <a:rPr lang="en-IN" dirty="0"/>
              <a:t>React Native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BDEA9-00D6-7E54-7E0D-6CBB2823DC1C}"/>
              </a:ext>
            </a:extLst>
          </p:cNvPr>
          <p:cNvSpPr txBox="1"/>
          <p:nvPr/>
        </p:nvSpPr>
        <p:spPr>
          <a:xfrm>
            <a:off x="1073102" y="1524686"/>
            <a:ext cx="101999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React Native is an open-source mobile application development framework.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Developed by Meta (Facebook) and released in 2015.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Used to build cross-platform mobile applications for Android and iOS.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Uses JavaScript or TypeScript along with the React library.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Allows developers to create mobile apps using a single codebase for multiple platforms.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Uses native UI components to provide a native-like user experience.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Supports component-based architecture, making applications modular, reusable, and easier to maintain.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IN" sz="2000" dirty="0"/>
              <a:t>Reduces development time and effort compared to building separate native applications.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9130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FDB8-EF85-3BC3-968E-AFC46BF5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475F-CDE8-CF2D-0E89-B008916E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441684"/>
            <a:ext cx="11119104" cy="640080"/>
          </a:xfrm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C6862-C97C-6BA2-49BC-DDCC6E7E1390}"/>
              </a:ext>
            </a:extLst>
          </p:cNvPr>
          <p:cNvSpPr txBox="1"/>
          <p:nvPr/>
        </p:nvSpPr>
        <p:spPr>
          <a:xfrm>
            <a:off x="1640030" y="1177214"/>
            <a:ext cx="10199915" cy="4651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Cross-platform development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Single codebase for Android and iOS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JavaScript/TypeScript support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Reusable components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Fast Refresh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Component-based architecture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Code reusability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Third-party library support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Good performance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Large developer community</a:t>
            </a:r>
          </a:p>
        </p:txBody>
      </p:sp>
    </p:spTree>
    <p:extLst>
      <p:ext uri="{BB962C8B-B14F-4D97-AF65-F5344CB8AC3E}">
        <p14:creationId xmlns:p14="http://schemas.microsoft.com/office/powerpoint/2010/main" val="172646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6731-6DB9-4A9F-1DFF-AAFDE05A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Basic Components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0F4DABC-776E-129B-FA8C-661326A791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508" y="1485682"/>
            <a:ext cx="10441577" cy="4805390"/>
          </a:xfrm>
        </p:spPr>
        <p:txBody>
          <a:bodyPr/>
          <a:lstStyle/>
          <a:p>
            <a:r>
              <a:rPr lang="en-US" sz="2400" b="1" dirty="0">
                <a:latin typeface="Abadi" panose="020B0604020104020204" pitchFamily="34" charset="0"/>
              </a:rPr>
              <a:t>1. View </a:t>
            </a:r>
            <a:r>
              <a:rPr lang="en-US" sz="2400" dirty="0">
                <a:latin typeface="Abadi" panose="020B0604020104020204" pitchFamily="34" charset="0"/>
              </a:rPr>
              <a:t>: View is like a div in React web. It is a fundamental container used to group, organize, and style other components.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2. Text </a:t>
            </a:r>
            <a:r>
              <a:rPr lang="en-US" sz="2400" dirty="0">
                <a:latin typeface="Abadi" panose="020B0604020104020204" pitchFamily="34" charset="0"/>
              </a:rPr>
              <a:t>: Text is used to display text content. It supports text styling, nesting, and text-related interactions.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3. </a:t>
            </a:r>
            <a:r>
              <a:rPr lang="en-US" sz="2400" b="1" dirty="0" err="1">
                <a:latin typeface="Abadi" panose="020B0604020104020204" pitchFamily="34" charset="0"/>
              </a:rPr>
              <a:t>ScrollView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ScrollView</a:t>
            </a:r>
            <a:r>
              <a:rPr lang="en-US" sz="2400" dirty="0">
                <a:latin typeface="Abadi" panose="020B0604020104020204" pitchFamily="34" charset="0"/>
              </a:rPr>
              <a:t> is a container that allows users to scroll through content vertically or horizontally. It is suitable for a limited amount of content.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4. </a:t>
            </a:r>
            <a:r>
              <a:rPr lang="en-US" sz="2400" b="1" dirty="0" err="1">
                <a:latin typeface="Abadi" panose="020B0604020104020204" pitchFamily="34" charset="0"/>
              </a:rPr>
              <a:t>SafeAreaView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SafeAreaView</a:t>
            </a:r>
            <a:r>
              <a:rPr lang="en-US" sz="2400" dirty="0">
                <a:latin typeface="Abadi" panose="020B0604020104020204" pitchFamily="34" charset="0"/>
              </a:rPr>
              <a:t> is a legacy core component that helps keep content away from certain unsafe screen areas, such as notches. For modern apps, react-native-safe-area-context is generally preferred.</a:t>
            </a:r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598BA341-ADB8-3FDF-0570-1181EA5B719D}"/>
              </a:ext>
            </a:extLst>
          </p:cNvPr>
          <p:cNvSpPr txBox="1">
            <a:spLocks/>
          </p:cNvSpPr>
          <p:nvPr/>
        </p:nvSpPr>
        <p:spPr>
          <a:xfrm>
            <a:off x="540438" y="6125019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BE71C81B-D2D7-0980-5857-B1C98347E578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32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DD33-4852-645E-8B62-E9C04506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7B6C-7541-8BF3-9244-8D81D067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Basic Components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72A8A8-B316-986B-0C06-D627BE09A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508" y="1485682"/>
            <a:ext cx="10441577" cy="4805390"/>
          </a:xfrm>
        </p:spPr>
        <p:txBody>
          <a:bodyPr/>
          <a:lstStyle/>
          <a:p>
            <a:r>
              <a:rPr lang="en-US" sz="2400" b="1" dirty="0">
                <a:latin typeface="Abadi" panose="020B0604020104020204" pitchFamily="34" charset="0"/>
              </a:rPr>
              <a:t>5. Button </a:t>
            </a:r>
            <a:r>
              <a:rPr lang="en-US" sz="2400" dirty="0">
                <a:latin typeface="Abadi" panose="020B0604020104020204" pitchFamily="34" charset="0"/>
              </a:rPr>
              <a:t>: Button is a basic component used to perform an action when pressed. It has limited styling options.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6. Pressable </a:t>
            </a:r>
            <a:r>
              <a:rPr lang="en-US" sz="2400" dirty="0">
                <a:latin typeface="Abadi" panose="020B0604020104020204" pitchFamily="34" charset="0"/>
              </a:rPr>
              <a:t>: Pressable is used to detect press interactions. Unlike Button, it allows complete customization of its appearance and press states.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7. </a:t>
            </a:r>
            <a:r>
              <a:rPr lang="en-US" sz="2400" b="1" dirty="0" err="1">
                <a:latin typeface="Abadi" panose="020B0604020104020204" pitchFamily="34" charset="0"/>
              </a:rPr>
              <a:t>TextInput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TextInput</a:t>
            </a:r>
            <a:r>
              <a:rPr lang="en-US" sz="2400" dirty="0">
                <a:latin typeface="Abadi" panose="020B0604020104020204" pitchFamily="34" charset="0"/>
              </a:rPr>
              <a:t> is like the HTML input element. It allows users to enter text, passwords, emails, and other input values.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8. </a:t>
            </a:r>
            <a:r>
              <a:rPr lang="en-US" sz="2400" b="1" dirty="0" err="1">
                <a:latin typeface="Abadi" panose="020B0604020104020204" pitchFamily="34" charset="0"/>
              </a:rPr>
              <a:t>TouchableOpacity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TouchableOpacity</a:t>
            </a:r>
            <a:r>
              <a:rPr lang="en-US" sz="2400" dirty="0">
                <a:latin typeface="Abadi" panose="020B0604020104020204" pitchFamily="34" charset="0"/>
              </a:rPr>
              <a:t> detects touch events and reduces the opacity of its children while pressed, providing visual feedback. Pressable is usually preferred for new implementations.</a:t>
            </a:r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E198EBB9-721F-1801-714D-D943CE0914BB}"/>
              </a:ext>
            </a:extLst>
          </p:cNvPr>
          <p:cNvSpPr txBox="1">
            <a:spLocks/>
          </p:cNvSpPr>
          <p:nvPr/>
        </p:nvSpPr>
        <p:spPr>
          <a:xfrm>
            <a:off x="540438" y="6125019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CB91F7CF-69E9-0C30-890E-33E3BD49F49A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01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76D3-0687-9F61-F348-D8FF1548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2616-CB69-9E8A-AC4F-E5BB1CDB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Basic Components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5773B2-E58F-0144-C19A-D4E83E4643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5508" y="1485682"/>
            <a:ext cx="10441577" cy="4805390"/>
          </a:xfrm>
        </p:spPr>
        <p:txBody>
          <a:bodyPr/>
          <a:lstStyle/>
          <a:p>
            <a:r>
              <a:rPr lang="en-US" sz="2400" b="1" dirty="0">
                <a:latin typeface="Abadi" panose="020B0604020104020204" pitchFamily="34" charset="0"/>
              </a:rPr>
              <a:t>9. Image </a:t>
            </a:r>
            <a:r>
              <a:rPr lang="en-US" sz="2400" dirty="0">
                <a:latin typeface="Abadi" panose="020B0604020104020204" pitchFamily="34" charset="0"/>
              </a:rPr>
              <a:t>: Image is used to display images from local assets or remote URLs.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10. </a:t>
            </a:r>
            <a:r>
              <a:rPr lang="en-US" sz="2400" b="1" dirty="0" err="1">
                <a:latin typeface="Abadi" panose="020B0604020104020204" pitchFamily="34" charset="0"/>
              </a:rPr>
              <a:t>FlatList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FlatList</a:t>
            </a:r>
            <a:r>
              <a:rPr lang="en-US" sz="2400" dirty="0">
                <a:latin typeface="Abadi" panose="020B0604020104020204" pitchFamily="34" charset="0"/>
              </a:rPr>
              <a:t> efficiently renders large or dynamic lists by rendering items as needed, instead of rendering every item at once.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11. </a:t>
            </a:r>
            <a:r>
              <a:rPr lang="en-US" sz="2400" b="1" dirty="0" err="1">
                <a:latin typeface="Abadi" panose="020B0604020104020204" pitchFamily="34" charset="0"/>
              </a:rPr>
              <a:t>ActivityIndicator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ActivityIndicator</a:t>
            </a:r>
            <a:r>
              <a:rPr lang="en-US" sz="2400" dirty="0">
                <a:latin typeface="Abadi" panose="020B0604020104020204" pitchFamily="34" charset="0"/>
              </a:rPr>
              <a:t> displays a loading spinner while some task is running, such as fetching data from an API.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r>
              <a:rPr lang="en-US" sz="2400" b="1" dirty="0">
                <a:latin typeface="Abadi" panose="020B0604020104020204" pitchFamily="34" charset="0"/>
              </a:rPr>
              <a:t>12. </a:t>
            </a:r>
            <a:r>
              <a:rPr lang="en-US" sz="2400" b="1" dirty="0" err="1">
                <a:latin typeface="Abadi" panose="020B0604020104020204" pitchFamily="34" charset="0"/>
              </a:rPr>
              <a:t>StatusBar</a:t>
            </a:r>
            <a:r>
              <a:rPr lang="en-US" sz="2400" b="1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: </a:t>
            </a:r>
            <a:r>
              <a:rPr lang="en-US" sz="2400" dirty="0" err="1">
                <a:latin typeface="Abadi" panose="020B0604020104020204" pitchFamily="34" charset="0"/>
              </a:rPr>
              <a:t>StatusBar</a:t>
            </a:r>
            <a:r>
              <a:rPr lang="en-US" sz="2400" dirty="0">
                <a:latin typeface="Abadi" panose="020B0604020104020204" pitchFamily="34" charset="0"/>
              </a:rPr>
              <a:t> controls the appearance of the device status bar, including its text and background appearance, subject to platform limitations.</a:t>
            </a:r>
          </a:p>
          <a:p>
            <a:endParaRPr lang="en-US" sz="2400" dirty="0">
              <a:latin typeface="Abadi" panose="020B0604020104020204" pitchFamily="34" charset="0"/>
            </a:endParaRPr>
          </a:p>
          <a:p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EC71939C-2DAC-6566-F6AC-0EE880339E7A}"/>
              </a:ext>
            </a:extLst>
          </p:cNvPr>
          <p:cNvSpPr txBox="1">
            <a:spLocks/>
          </p:cNvSpPr>
          <p:nvPr/>
        </p:nvSpPr>
        <p:spPr>
          <a:xfrm>
            <a:off x="540438" y="6125019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19" name="Slide Number Placeholder 7">
            <a:extLst>
              <a:ext uri="{FF2B5EF4-FFF2-40B4-BE49-F238E27FC236}">
                <a16:creationId xmlns:a16="http://schemas.microsoft.com/office/drawing/2014/main" id="{A2B372AB-A4A3-DB8F-89FE-6C9AB3E62B7D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465218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3161501_Feeling overwhelmed_wac_SL_V2" id="{54A04B33-ABA9-48E3-837F-F7D8E1BC9C01}" vid="{4FC7F71D-D20D-44FB-9BA9-EEFEE62253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D100F2-74DD-462C-BBFE-2504278ADF72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230e9df3-be65-4c73-a93b-d1236ebd677e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elements/1.1/"/>
    <ds:schemaRef ds:uri="71af3243-3dd4-4a8d-8c0d-dd76da1f02a5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Feeling overwhelmed</Template>
  <TotalTime>280</TotalTime>
  <Words>450</Words>
  <Application>Microsoft Office PowerPoint</Application>
  <PresentationFormat>Widescreen</PresentationFormat>
  <Paragraphs>56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Abadi</vt:lpstr>
      <vt:lpstr>Arial</vt:lpstr>
      <vt:lpstr>Calibri</vt:lpstr>
      <vt:lpstr>Segoe UI</vt:lpstr>
      <vt:lpstr>Segoe UI </vt:lpstr>
      <vt:lpstr>Segoe UI Semibold</vt:lpstr>
      <vt:lpstr>Wingdings</vt:lpstr>
      <vt:lpstr>powerpoint tutorial</vt:lpstr>
      <vt:lpstr>React Native</vt:lpstr>
      <vt:lpstr>React Native</vt:lpstr>
      <vt:lpstr>Features</vt:lpstr>
      <vt:lpstr>Basic Components</vt:lpstr>
      <vt:lpstr>Basic Components</vt:lpstr>
      <vt:lpstr>Basic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2</cp:revision>
  <dcterms:created xsi:type="dcterms:W3CDTF">2026-10-01T08:39:49Z</dcterms:created>
  <dcterms:modified xsi:type="dcterms:W3CDTF">2026-10-01T16:34:03Z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